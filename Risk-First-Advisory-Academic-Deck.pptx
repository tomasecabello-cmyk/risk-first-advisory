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77240" y="71323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603504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40">
                <a:solidFill>
                  <a:srgbClr val="BFDBFE"/>
                </a:solidFill>
                <a:latin typeface="Calibri"/>
              </a:rPr>
              <a:t>RISK-FIRST  ADVISORY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5852160" cy="310896"/>
          </a:xfrm>
          <a:prstGeom prst="roundRect">
            <a:avLst>
              <a:gd name="adj" fmla="val 45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8521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DBEAFE"/>
                </a:solidFill>
                <a:latin typeface="Calibri"/>
              </a:rPr>
              <a:t>PROYECTO DE FINANZAS APLICADO CON IA  ·  ACADEMIC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mbria"/>
              </a:rPr>
              <a:t>Risk-First 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0" i="0">
                <a:solidFill>
                  <a:srgbClr val="E2E8F0"/>
                </a:solidFill>
                <a:latin typeface="Calibri"/>
              </a:rPr>
              <a:t>IA supervisada por asesores para convertir perfilamiento,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0" i="0">
                <a:solidFill>
                  <a:srgbClr val="E2E8F0"/>
                </a:solidFill>
                <a:latin typeface="Calibri"/>
              </a:rPr>
              <a:t>suitability y construcción de carteras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200" b="0" i="0">
                <a:solidFill>
                  <a:srgbClr val="E2E8F0"/>
                </a:solidFill>
                <a:latin typeface="Calibri"/>
              </a:rPr>
              <a:t>en un proceso justificable y auditable.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0EA5E9"/>
                </a:solidFill>
                <a:latin typeface="Cambria"/>
              </a:rPr>
              <a:t>“La IA propone.  El asesor decide.”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760720"/>
            <a:ext cx="5166360" cy="0"/>
          </a:xfrm>
          <a:prstGeom prst="line">
            <a:avLst/>
          </a:prstGeom>
          <a:ln w="1270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Marco teórico · metodología · prototipo funcional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535" y="63550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94A3B8"/>
                </a:solidFill>
                <a:latin typeface="Calibri"/>
              </a:rPr>
              <a:t>Prototipo funcional local · no production-ready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155448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554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Recomendar carteras exige más que elegir instrumentos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La decisión de inversión debería partir del cliente, no del producto — y debería poder reconstruirse después.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El asesor primero debe entender al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79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Sin un perfil bien construido, cualquier recomendación es opcional.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331720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4418" y="2331720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8738" y="2514600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El KYC suele quedar fragmentado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738" y="3154679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Forms, planillas, conversaciones — sin una vista única ni versionada.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331720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596" y="2331720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2514600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El perfil de riesgo puede ser subjetivo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3154679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Dos asesores arman perfiles distintos para el mismo cliente.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97679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97679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80559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Las recomendaciones no son fácilmente trazables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20640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El cliente recibe una cartera, pero el camino de la decisión se pierde.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4418" y="4297679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4418" y="4297679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8738" y="4480559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Los overrides quedan mal documentados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8738" y="5120640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Cuando se excede el presupuesto de riesgo, la justificación rara vez es formal.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1596" y="4297679"/>
            <a:ext cx="336285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1596" y="4297679"/>
            <a:ext cx="45720" cy="1691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5916" y="4480559"/>
            <a:ext cx="2951378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La IA puede amplificar estos problemas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5916" y="5120640"/>
            <a:ext cx="2951378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Si no está supervisada y registrada, traslada los huecos a otra capa.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7432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MARCO TEÓRICO  · 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Suitability antes que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Una recomendación de inversión debería partir del cliente y de los condicionantes que su situación impone.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 i="1">
                <a:solidFill>
                  <a:srgbClr val="0B1E3F"/>
                </a:solidFill>
                <a:latin typeface="Cambria"/>
              </a:rPr>
              <a:t>“Antes de hablar de cartera, hay que saber qué cartera es adecuada para ese inversor.”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089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735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Objetivos del inversor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Qué busca lograr y en qué plazo.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2263" y="31089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32735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35661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Horizonte 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9502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Cuándo necesita acceder al capital.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1089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32735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5661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Tolerancia al 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9502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Qué nivel de pérdida tolera emocionalmente.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2311" y="31089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6631" y="32735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5661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Capacidad de riesgo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6631" y="39502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Qué nivel de pérdida puede absorber sin dañar su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091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737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Necesidad de liquidez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504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Qué porcentaje debería estar disponible en el corto plazo.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2263" y="47091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6583" y="48737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6583" y="51663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Experiencia previa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6583" y="55504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Familiaridad con instrumentos y volatilidad.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287" y="4709160"/>
            <a:ext cx="25221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1607" y="4873752"/>
            <a:ext cx="211066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0EA5E9"/>
                </a:solidFill>
                <a:latin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5166360"/>
            <a:ext cx="21106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Restricciones y preferencias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5550408"/>
            <a:ext cx="21106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ESG, jurisdicción, monedas, exclusiones, productos prohibidos.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7432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MARCO TEÓRICO  · 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Risk-first: empezar por el riesgo aceptable, no por el retorno deseado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Cambiar el orden mental del proceso cambia la calidad (y la auditabilidad) de la decisión.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21208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54864" cy="3337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39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DC2626"/>
                </a:solidFill>
                <a:latin typeface="Calibri"/>
              </a:rPr>
              <a:t>ENFOQUE TRADICIONAL  ·  RETURN-CHASING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39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mbria"/>
              </a:rPr>
              <a:t>Empieza por el retorno deseado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22191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19" y="3703320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cliente pide cierto número (“10 % anual”).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4169663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4050791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Se buscan productos que “pinten” ese número.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4517136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19" y="4398264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riesgo aparece como consecuencia.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864607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19" y="4745736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Exceder límites se discute, no se firma.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5212080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19" y="5093208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La justificación llega después, no antes.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331720"/>
            <a:ext cx="521208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331720"/>
            <a:ext cx="54864" cy="3337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606039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059669"/>
                </a:solidFill>
                <a:latin typeface="Calibri"/>
              </a:rPr>
              <a:t>RISK-FIRST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063239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mbria"/>
              </a:rPr>
              <a:t>Empieza por el riesgo aceptable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3822191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703320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KYC fija el presupuesto de riesgo aprobado.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4169663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050791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retorno se busca dentro de ese límite.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4517136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398264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Exceder el límite exige override firmado.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864607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4745736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Cada paso queda atado a la justificación.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21208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5093208"/>
            <a:ext cx="4434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La decisión es reconstruible ex-post.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52160"/>
            <a:ext cx="10607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 i="1">
                <a:solidFill>
                  <a:srgbClr val="0B1E3F"/>
                </a:solidFill>
                <a:latin typeface="Cambria"/>
              </a:rPr>
              <a:t>“No se optimiza contra el deseo de retorno; se optimiza dentro del riesgo aprobado.”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7432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MARCO TEÓRICO  · 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De la teoría de carteras a una decisión asesorada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No todas las carteras eficientes son adecuadas para todos los clientes. El perfil aprobado limita el universo de decisiones.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7607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Frontera eficiente — concepto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39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Riesgo en el eje X · Retorno esperado en el eje 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08760" y="5897880"/>
            <a:ext cx="475488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08760" y="3429000"/>
            <a:ext cx="0" cy="246888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49240" y="5952744"/>
            <a:ext cx="9144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  <a:latin typeface="Calibri"/>
              </a:rPr>
              <a:t>Riesgo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↑ Retorno esperado</a:t>
            </a:r>
          </a:p>
        </p:txBody>
      </p:sp>
      <p:sp>
        <p:nvSpPr>
          <p:cNvPr id="14" name="Oval 13"/>
          <p:cNvSpPr/>
          <p:nvPr/>
        </p:nvSpPr>
        <p:spPr>
          <a:xfrm>
            <a:off x="1650492" y="562813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81498" y="516662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12504" y="497545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3510" y="482877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74517" y="4705109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05523" y="459616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6529" y="449766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67536" y="440708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98542" y="432278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29548" y="424359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60555" y="416870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91561" y="409747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22567" y="402941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53574" y="396413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84580" y="390131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5586" y="3840707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46593" y="3782087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77599" y="372527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08605" y="367010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9611" y="361645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08760" y="3520440"/>
            <a:ext cx="1997049" cy="228600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50492" y="562813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81498" y="516662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12504" y="497545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43510" y="482877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74517" y="4705109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05523" y="459616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36529" y="449766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67536" y="440708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98542" y="4322781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29548" y="4243598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60555" y="416870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91561" y="409747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22567" y="402941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53574" y="3964130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884580" y="3901315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15586" y="3840707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46593" y="3782087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577599" y="3725273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8605" y="3670106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39611" y="3616452"/>
            <a:ext cx="82296" cy="822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505809" y="3429000"/>
            <a:ext cx="0" cy="2468880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591409" y="595274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1">
                <a:solidFill>
                  <a:srgbClr val="059669"/>
                </a:solidFill>
                <a:latin typeface="Calibri"/>
              </a:rPr>
              <a:t>presupuesto de riesgo aprobado</a:t>
            </a:r>
          </a:p>
        </p:txBody>
      </p:sp>
      <p:sp>
        <p:nvSpPr>
          <p:cNvPr id="57" name="Oval 56"/>
          <p:cNvSpPr/>
          <p:nvPr/>
        </p:nvSpPr>
        <p:spPr>
          <a:xfrm>
            <a:off x="2755231" y="4545869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00951" y="4591589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1263" y="4491005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  <a:latin typeface="Calibri"/>
              </a:rPr>
              <a:t>BALANCED · seleccionada</a:t>
            </a:r>
          </a:p>
        </p:txBody>
      </p:sp>
      <p:sp>
        <p:nvSpPr>
          <p:cNvPr id="60" name="Oval 59"/>
          <p:cNvSpPr/>
          <p:nvPr/>
        </p:nvSpPr>
        <p:spPr>
          <a:xfrm>
            <a:off x="4834288" y="3851023"/>
            <a:ext cx="182880" cy="1828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80008" y="3896743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22608" y="3796159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50" b="1" i="0">
                <a:solidFill>
                  <a:srgbClr val="D97706"/>
                </a:solidFill>
                <a:latin typeface="Calibri"/>
              </a:rPr>
              <a:t>GROWTH · requiere override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79" y="2331720"/>
            <a:ext cx="460217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1D4ED8"/>
                </a:solidFill>
                <a:latin typeface="Calibri"/>
              </a:rPr>
              <a:t>TRADE-OFF Y RESTRICCIONES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79" y="2697480"/>
            <a:ext cx="460217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mbria"/>
              </a:rPr>
              <a:t>Cinco principios que el sistema respeta</a:t>
            </a:r>
          </a:p>
        </p:txBody>
      </p:sp>
      <p:sp>
        <p:nvSpPr>
          <p:cNvPr id="65" name="Oval 64"/>
          <p:cNvSpPr/>
          <p:nvPr/>
        </p:nvSpPr>
        <p:spPr>
          <a:xfrm>
            <a:off x="6812279" y="3456432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68312" y="3383280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Toda cartera implica un trade-off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68312" y="3630168"/>
            <a:ext cx="43278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Riesgo y retorno no se pueden optimizar por separado.</a:t>
            </a:r>
          </a:p>
        </p:txBody>
      </p:sp>
      <p:sp>
        <p:nvSpPr>
          <p:cNvPr id="68" name="Oval 67"/>
          <p:cNvSpPr/>
          <p:nvPr/>
        </p:nvSpPr>
        <p:spPr>
          <a:xfrm>
            <a:off x="6812279" y="402336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68312" y="3950208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La optimización opera bajo restricciones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68312" y="4197096"/>
            <a:ext cx="43278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Universo elegible, límites por activo, presupuesto de riesgo.</a:t>
            </a:r>
          </a:p>
        </p:txBody>
      </p:sp>
      <p:sp>
        <p:nvSpPr>
          <p:cNvPr id="71" name="Oval 70"/>
          <p:cNvSpPr/>
          <p:nvPr/>
        </p:nvSpPr>
        <p:spPr>
          <a:xfrm>
            <a:off x="6812279" y="459028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68312" y="4517136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No toda eficiente es adecuada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68312" y="4764024"/>
            <a:ext cx="43278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La frontera teórica incluye carteras fuera del perfil aprobado.</a:t>
            </a:r>
          </a:p>
        </p:txBody>
      </p:sp>
      <p:sp>
        <p:nvSpPr>
          <p:cNvPr id="74" name="Oval 73"/>
          <p:cNvSpPr/>
          <p:nvPr/>
        </p:nvSpPr>
        <p:spPr>
          <a:xfrm>
            <a:off x="6812279" y="515721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68312" y="5084064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El perfil aprobado define el espacio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68312" y="5330952"/>
            <a:ext cx="43278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Las variantes propuestas se comparan contra el presupuesto.</a:t>
            </a:r>
          </a:p>
        </p:txBody>
      </p:sp>
      <p:sp>
        <p:nvSpPr>
          <p:cNvPr id="77" name="Oval 76"/>
          <p:cNvSpPr/>
          <p:nvPr/>
        </p:nvSpPr>
        <p:spPr>
          <a:xfrm>
            <a:off x="6812279" y="5724144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68312" y="5650992"/>
            <a:ext cx="432785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Excederlo exige justificación explícita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68312" y="5897879"/>
            <a:ext cx="43278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Es la única vía para salir del espacio aprobado.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7432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MARCO TEÓRICO  · 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La IA puede asistir, pero no debe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La responsabilidad profesional no es delegable. El sistema correcto es human-in-the-loop.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37560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651760"/>
            <a:ext cx="457200" cy="457200"/>
          </a:xfrm>
          <a:prstGeom prst="ellipse">
            <a:avLst/>
          </a:prstGeom>
          <a:solidFill>
            <a:srgbClr val="DBEAFE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2606039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 spc="120">
                <a:solidFill>
                  <a:srgbClr val="0B1E3F"/>
                </a:solidFill>
                <a:latin typeface="Cambria"/>
              </a:rPr>
              <a:t>LA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880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1">
                <a:solidFill>
                  <a:srgbClr val="0EA5E9"/>
                </a:solidFill>
                <a:latin typeface="Calibri"/>
              </a:rPr>
              <a:t>Lee, sintetiza, propone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28803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Detecta inconsistencias en el KYC. Propone un perfil preliminar. Sugiere preguntas de seguimiento.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54879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1">
                <a:solidFill>
                  <a:srgbClr val="0B1E3F"/>
                </a:solidFill>
                <a:latin typeface="Calibri"/>
              </a:rPr>
              <a:t>No firma. No selecciona. No decide.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87952" y="3726179"/>
            <a:ext cx="265176" cy="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26279" y="233172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2331720"/>
            <a:ext cx="333756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599" y="2651760"/>
            <a:ext cx="457200" cy="45720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606039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 spc="120">
                <a:solidFill>
                  <a:srgbClr val="0B1E3F"/>
                </a:solidFill>
                <a:latin typeface="Cambria"/>
              </a:rPr>
              <a:t>EL ASESOR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3246120"/>
            <a:ext cx="2880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1">
                <a:solidFill>
                  <a:srgbClr val="059669"/>
                </a:solidFill>
                <a:latin typeface="Calibri"/>
              </a:rPr>
              <a:t>Revisa, modifica, aprueba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599" y="3703320"/>
            <a:ext cx="28803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Lee la propuesta, la confronta con su criterio profesional, y la aprueba — o la modifica, o la rechaza.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599" y="4754879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1">
                <a:solidFill>
                  <a:srgbClr val="0B1E3F"/>
                </a:solidFill>
                <a:latin typeface="Calibri"/>
              </a:rPr>
              <a:t>Es siempre el actor vinculante.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36992" y="3726179"/>
            <a:ext cx="265175" cy="0"/>
          </a:xfrm>
          <a:prstGeom prst="bentConnector3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19" y="2331720"/>
            <a:ext cx="333756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19" y="2331720"/>
            <a:ext cx="3337560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49640" y="2651760"/>
            <a:ext cx="457200" cy="457200"/>
          </a:xfrm>
          <a:prstGeom prst="ellipse">
            <a:avLst/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2606039"/>
            <a:ext cx="23317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 spc="120">
                <a:solidFill>
                  <a:srgbClr val="0B1E3F"/>
                </a:solidFill>
                <a:latin typeface="Cambria"/>
              </a:rPr>
              <a:t>EL SISTEMA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246120"/>
            <a:ext cx="2880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1">
                <a:solidFill>
                  <a:srgbClr val="6D28D9"/>
                </a:solidFill>
                <a:latin typeface="Calibri"/>
              </a:rPr>
              <a:t>Registra y reconstruye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03320"/>
            <a:ext cx="28803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Guarda qué propuso la IA, qué decidió el asesor, qué cambió y por qué.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754879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1">
                <a:solidFill>
                  <a:srgbClr val="0B1E3F"/>
                </a:solidFill>
                <a:latin typeface="Calibri"/>
              </a:rPr>
              <a:t>La decisión queda reconstruible.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 i="1">
                <a:solidFill>
                  <a:srgbClr val="0B1E3F"/>
                </a:solidFill>
                <a:latin typeface="Cambria"/>
              </a:rPr>
              <a:t>“La IA no reemplaza el criterio profesional: lo documenta y lo potencia.”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2860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2860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SOLUCIÓN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Risk-First Advisory: IA supervisada por asesor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Un workflow de nueve pasos donde cada etapa tiene un responsable y queda registrada.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451860"/>
            <a:ext cx="10271455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1100632" cy="73152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676" y="2834640"/>
            <a:ext cx="365760" cy="36576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4676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Perfil del
inversor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0B1E3F"/>
                </a:solidFill>
                <a:latin typeface="Calibri"/>
              </a:rPr>
              <a:t>ASESOR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9312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9312" y="2606040"/>
            <a:ext cx="1100632" cy="73152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36749" y="2834640"/>
            <a:ext cx="365760" cy="36576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6749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4176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KYC
estructurado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4176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0B1E3F"/>
                </a:solidFill>
                <a:latin typeface="Calibri"/>
              </a:rPr>
              <a:t>ASESOR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1385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61385" y="2606040"/>
            <a:ext cx="1100632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28822" y="283464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8822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6249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Análisis
de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6249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0EA5E9"/>
                </a:solidFill>
                <a:latin typeface="Calibri"/>
              </a:rPr>
              <a:t>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3458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3458" y="2606040"/>
            <a:ext cx="1100632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0894" y="283464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0894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8322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Aprobación
del asesor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8322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059669"/>
                </a:solidFill>
                <a:latin typeface="Calibri"/>
              </a:rPr>
              <a:t>ASESOR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45531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45531" y="2606040"/>
            <a:ext cx="1100632" cy="73152"/>
          </a:xfrm>
          <a:prstGeom prst="rect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12967" y="2834640"/>
            <a:ext cx="365760" cy="365760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12967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0395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Universo
elegible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0395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1E3A6B"/>
                </a:solidFill>
                <a:latin typeface="Calibri"/>
              </a:rPr>
              <a:t>SISTEMA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37604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37604" y="2606040"/>
            <a:ext cx="1100632" cy="73152"/>
          </a:xfrm>
          <a:prstGeom prst="rect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05040" y="2834640"/>
            <a:ext cx="365760" cy="365760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05040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7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Propuesta
de cartera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2467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1E3A6B"/>
                </a:solidFill>
                <a:latin typeface="Calibri"/>
              </a:rPr>
              <a:t>SISTEMA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29676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29676" y="2606040"/>
            <a:ext cx="1100632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97113" y="283464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97113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4540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Selección
final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84540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059669"/>
                </a:solidFill>
                <a:latin typeface="Calibri"/>
              </a:rPr>
              <a:t>ASESOR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21749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21749" y="2606040"/>
            <a:ext cx="1100632" cy="7315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489186" y="283464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89186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76613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Reporte
justificado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76613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6D28D9"/>
                </a:solidFill>
                <a:latin typeface="Calibri"/>
              </a:rPr>
              <a:t>SISTEMA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13822" y="2606040"/>
            <a:ext cx="110063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13822" y="2606040"/>
            <a:ext cx="1100632" cy="7315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81258" y="283464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81258" y="28346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8686" y="3291840"/>
            <a:ext cx="990904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E3F"/>
                </a:solidFill>
                <a:latin typeface="Cambria"/>
              </a:rPr>
              <a:t>Auditoría
verificada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8686" y="4023360"/>
            <a:ext cx="990904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 spc="120">
                <a:solidFill>
                  <a:srgbClr val="6D28D9"/>
                </a:solidFill>
                <a:latin typeface="Calibri"/>
              </a:rPr>
              <a:t>COMPLIANCE</a:t>
            </a:r>
          </a:p>
        </p:txBody>
      </p:sp>
      <p:sp>
        <p:nvSpPr>
          <p:cNvPr id="62" name="Oval 61"/>
          <p:cNvSpPr/>
          <p:nvPr/>
        </p:nvSpPr>
        <p:spPr>
          <a:xfrm>
            <a:off x="777240" y="4937759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4754879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LA 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5010912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propone</a:t>
            </a:r>
          </a:p>
        </p:txBody>
      </p:sp>
      <p:sp>
        <p:nvSpPr>
          <p:cNvPr id="65" name="Oval 64"/>
          <p:cNvSpPr/>
          <p:nvPr/>
        </p:nvSpPr>
        <p:spPr>
          <a:xfrm>
            <a:off x="4414418" y="4937759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43018" y="4754879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EL ASESOR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3018" y="5010912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aprueba, modifica o rechaza</a:t>
            </a:r>
          </a:p>
        </p:txBody>
      </p:sp>
      <p:sp>
        <p:nvSpPr>
          <p:cNvPr id="68" name="Oval 67"/>
          <p:cNvSpPr/>
          <p:nvPr/>
        </p:nvSpPr>
        <p:spPr>
          <a:xfrm>
            <a:off x="8051596" y="4937759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0196" y="4754879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EL SISTEMA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80196" y="5010912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controla risk budget y suitability</a:t>
            </a:r>
          </a:p>
        </p:txBody>
      </p:sp>
      <p:sp>
        <p:nvSpPr>
          <p:cNvPr id="71" name="Oval 70"/>
          <p:cNvSpPr/>
          <p:nvPr/>
        </p:nvSpPr>
        <p:spPr>
          <a:xfrm>
            <a:off x="777240" y="5788151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5605271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LA CARTERA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5861303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muestra instrumentos y pesos</a:t>
            </a:r>
          </a:p>
        </p:txBody>
      </p:sp>
      <p:sp>
        <p:nvSpPr>
          <p:cNvPr id="74" name="Oval 73"/>
          <p:cNvSpPr/>
          <p:nvPr/>
        </p:nvSpPr>
        <p:spPr>
          <a:xfrm>
            <a:off x="4414418" y="5788151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43018" y="5605271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EL REPORTE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43018" y="5861303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queda justificado y revisable</a:t>
            </a:r>
          </a:p>
        </p:txBody>
      </p:sp>
      <p:sp>
        <p:nvSpPr>
          <p:cNvPr id="77" name="Oval 76"/>
          <p:cNvSpPr/>
          <p:nvPr/>
        </p:nvSpPr>
        <p:spPr>
          <a:xfrm>
            <a:off x="8051596" y="5788151"/>
            <a:ext cx="128016" cy="12801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80196" y="5605271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40">
                <a:solidFill>
                  <a:srgbClr val="0B1E3F"/>
                </a:solidFill>
                <a:latin typeface="Calibri"/>
              </a:rPr>
              <a:t>EL PROCESO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80196" y="5861303"/>
            <a:ext cx="3088538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334155"/>
                </a:solidFill>
                <a:latin typeface="Calibri"/>
              </a:rPr>
              <a:t>queda auditado de extremo a extremo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46888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4688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PRODUCTO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Qué permite mostrar hoy 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Un prototipo funcional que recorre el workflow completo en una máquina local, en español, paso a paso.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0603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3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Demo en español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79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Hero, formulario, instrucciones y mensajes localizados para el asesor.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2263" y="2331720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0863" y="260603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260603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6623" y="2578608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Carga de perfil inversor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154679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Datos básicos, preguntas abiertas y preferencias en un solo formulario.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331720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5887" y="260603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260603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2578608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Flujo paso a paso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154679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Ocho pasos didácticos con explicación, acción y resultado por paso.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2311" y="2331720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20911" y="260603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0911" y="260603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671" y="2578608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Propuesta de cartera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0911" y="3154679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Variantes DEFENSIVE / BALANCED / GROWTH con instrumentos y pesos visibles.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97679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457199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7199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544567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Reporte Markdown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120640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Vista previa del documento que el asesor revisaría antes de compartirlo.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82263" y="4297679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10863" y="457199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10863" y="457199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6623" y="4544567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Auditoría del caso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863" y="5120640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Verificación de la integridad del registro de decisiones del caso.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4297679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15887" y="457199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57199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47" y="4544567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Logs de IA con redacción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5120640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Cada llamada al modelo guardada con el texto del cliente sanitizado.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2311" y="4297679"/>
            <a:ext cx="2522143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20911" y="4571999"/>
            <a:ext cx="274320" cy="274320"/>
          </a:xfrm>
          <a:prstGeom prst="ellipse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0911" y="4571999"/>
            <a:ext cx="2743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6671" y="4544567"/>
            <a:ext cx="179062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B1E3F"/>
                </a:solidFill>
                <a:latin typeface="Cambria"/>
              </a:rPr>
              <a:t>Bootstrap local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0911" y="5120640"/>
            <a:ext cx="2110663" cy="82295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Un solo comando deja el entorno listo para correr la demo desde cero.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6217920"/>
            <a:ext cx="10607040" cy="384048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2179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1">
                <a:solidFill>
                  <a:srgbClr val="D97706"/>
                </a:solidFill>
                <a:latin typeface="Calibri"/>
              </a:rPr>
              <a:t>El universo de instrumentos es acotado / demo. No es market data productivo.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246888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24688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PROPUESTA DE CARTERA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La cartera no es una etiqueta: muestra instrumentos, pesos y motivos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Una propuesta útil para el asesor — y para el cliente — debe responder qué se compra, cuánto y por qué.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7040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704088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6492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mbria"/>
              </a:rPr>
              <a:t>BALANCED  —  dentro del presupuesto de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Retorno esperado 6,8 %   ·   Volatilidad 9,4 %   ·   6 instrumentos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337560"/>
            <a:ext cx="6675120" cy="38404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6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INSTRUMENTO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37560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3337560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MONEDA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337560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 spc="120">
                <a:solidFill>
                  <a:srgbClr val="64748B"/>
                </a:solidFill>
                <a:latin typeface="Calibri"/>
              </a:rPr>
              <a:t>PESO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MOTIVO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767328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51560" y="4151376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376732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GD30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767328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Bono soberano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767328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767328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30 %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3895344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3895344"/>
            <a:ext cx="6858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6732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Renta fija · hard dollar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97096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51560" y="4581144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" y="4197096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AL30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197096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Bono soberano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59" y="4197096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197096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22 %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4325112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32120" y="4325112"/>
            <a:ext cx="50292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197096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Renta fija · hard dollar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626864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51560" y="5010912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1560" y="4626864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YPFD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626864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Acción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59" y="4626864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59" y="4626864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15 %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4754880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32120" y="4754880"/>
            <a:ext cx="3429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626864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Equity · energía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056632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1560" y="5440680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1560" y="5056632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SHV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056632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ETF money 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59" y="5056632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59" y="5056632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13 %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5184648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32120" y="5184648"/>
            <a:ext cx="29718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5056632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Liquidez · USD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5486400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051560" y="5870448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51560" y="548640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PAMP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0" y="5486400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CEDEAR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59" y="5486400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59" y="5486400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10 %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5614416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32120" y="5614416"/>
            <a:ext cx="2286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548640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Equity · diversificación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" y="5916168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91616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MEP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5916168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Money market USD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59" y="5916168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59" y="5916168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10 %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32120" y="6044183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32120" y="6044183"/>
            <a:ext cx="2286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591616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Liquidez · USD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2331720"/>
            <a:ext cx="33220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1D4ED8"/>
                </a:solidFill>
                <a:latin typeface="Calibri"/>
              </a:rPr>
              <a:t>UNA PROPUESTA ÚTIL RESPONDE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2440" y="2697480"/>
            <a:ext cx="332201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mbria"/>
              </a:rPr>
              <a:t>Cinco preguntas concretas</a:t>
            </a:r>
          </a:p>
        </p:txBody>
      </p:sp>
      <p:sp>
        <p:nvSpPr>
          <p:cNvPr id="72" name="Oval 71"/>
          <p:cNvSpPr/>
          <p:nvPr/>
        </p:nvSpPr>
        <p:spPr>
          <a:xfrm>
            <a:off x="8092440" y="3474720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383280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Qué compro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630168"/>
            <a:ext cx="304769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Cada instrumento explicitado por ticker y nombre.</a:t>
            </a:r>
          </a:p>
        </p:txBody>
      </p:sp>
      <p:sp>
        <p:nvSpPr>
          <p:cNvPr id="75" name="Oval 74"/>
          <p:cNvSpPr/>
          <p:nvPr/>
        </p:nvSpPr>
        <p:spPr>
          <a:xfrm>
            <a:off x="8092440" y="4041648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395020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Cuánto compro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4197096"/>
            <a:ext cx="304769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Peso porcentual y barra visual para comparar.</a:t>
            </a:r>
          </a:p>
        </p:txBody>
      </p:sp>
      <p:sp>
        <p:nvSpPr>
          <p:cNvPr id="78" name="Oval 77"/>
          <p:cNvSpPr/>
          <p:nvPr/>
        </p:nvSpPr>
        <p:spPr>
          <a:xfrm>
            <a:off x="8092440" y="4608576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4517136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Por qué entra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4764024"/>
            <a:ext cx="304769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Motivo: clase de activo, moneda, función en la cartera.</a:t>
            </a:r>
          </a:p>
        </p:txBody>
      </p:sp>
      <p:sp>
        <p:nvSpPr>
          <p:cNvPr id="81" name="Oval 80"/>
          <p:cNvSpPr/>
          <p:nvPr/>
        </p:nvSpPr>
        <p:spPr>
          <a:xfrm>
            <a:off x="8092440" y="5175504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66760" y="5084064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Qué riesgo implica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5330952"/>
            <a:ext cx="304769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Tipo de instrumento + perfil al que pertenece.</a:t>
            </a:r>
          </a:p>
        </p:txBody>
      </p:sp>
      <p:sp>
        <p:nvSpPr>
          <p:cNvPr id="84" name="Oval 83"/>
          <p:cNvSpPr/>
          <p:nvPr/>
        </p:nvSpPr>
        <p:spPr>
          <a:xfrm>
            <a:off x="8092440" y="5742431"/>
            <a:ext cx="128016" cy="12801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5650992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mbria"/>
              </a:rPr>
              <a:t>Si excede el presupuesto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5897879"/>
            <a:ext cx="304769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Marcador claro si requiere override del asesor.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 ·  Academic deck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18288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8288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De recomendación opaca a decisión reconstruible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Toda recomendación profesional debería poder reconstruirse desde la data original hasta el reporte final.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8136" y="2496312"/>
            <a:ext cx="0" cy="3284002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" y="2423160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95727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datos entraron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60903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El KYC estructurado y las respuestas en texto libre del cliente.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952205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52205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24773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perfil propuso la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89949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Perfil preliminar sugerido + contradicciones detectadas.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481251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81251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53819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aprobó el asesor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18995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Perfil final aprobado, decisión (approve/modify/reject) y rationale.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4010297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10297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82865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universo se usó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48041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El conjunto de instrumentos elegibles tras aplicar las preferencias.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4539342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39342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511910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cartera se propuso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77086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Las tres variantes generadas, con instrumentos, pesos y métricas.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" y="5068388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68388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040956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se seleccionó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306132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La variante final y el override firmado por el asesor (si aplica).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5597434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597434"/>
            <a:ext cx="256032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570002"/>
            <a:ext cx="990569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mbria"/>
              </a:rPr>
              <a:t>Qué reporte se generó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835178"/>
            <a:ext cx="9905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Markdown determinístico con composición y comparación de variantes.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6400800"/>
            <a:ext cx="10607040" cy="292608"/>
          </a:xfrm>
          <a:prstGeom prst="roundRect">
            <a:avLst>
              <a:gd name="adj" fmla="val 30000"/>
            </a:avLst>
          </a:prstGeom>
          <a:solidFill>
            <a:srgbClr val="EEF1F7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400800"/>
            <a:ext cx="106070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Implementación: cadena hash SHA-256 por caso y logs de IA con PII redactada por el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173736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7373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ESTADO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mbria"/>
              </a:rPr>
              <a:t>Prototipo funcional, no producto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Honestidad sobre el alcance: lo que ya funciona y lo que queda pendiente para pasar a piloto.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54864" cy="374903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059669"/>
                </a:solidFill>
                <a:latin typeface="Calibri"/>
              </a:rPr>
              <a:t>YA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79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1E3F"/>
                </a:solidFill>
                <a:latin typeface="Cambria"/>
              </a:rPr>
              <a:t>Lo que la demo puede mostrar hoy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73075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3611879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Workflow case-scoped completo de extremo a extremo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405993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941063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Demo local plug-and-play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438912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4270248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Flujo investor-facing en español, paso a paso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718303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9032" y="4599431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Propuestas de cartera con instrumentos y pesos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504748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9032" y="4928616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Reporte Markdown justificado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0" y="5376672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9032" y="5257800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Auditoría del caso (cadena de decisiones íntegra)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0" y="570585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9032" y="5586983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Tests de regresión que cubren el flujo completo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3172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331720"/>
            <a:ext cx="54864" cy="374903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2560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D97706"/>
                </a:solidFill>
                <a:latin typeface="Calibri"/>
              </a:rPr>
              <a:t>LIMITACIONES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926079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1E3F"/>
                </a:solidFill>
                <a:latin typeface="Cambria"/>
              </a:rPr>
              <a:t>Lo que aún no — y por qué importa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730752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1" y="3611879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 production-ready — demo local, no piloto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059935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1" y="3941063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Universo de instrumentos acotado / demo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4389120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1" y="4270248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Sin market data provider real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4718303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5431" y="4599431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Autenticación de desarrollo, no productiva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504748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1" y="4928616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Reporte solo Markdown, sin PDF / branding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5376672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5431" y="5257800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Sin firm-level access control completo</a:t>
            </a:r>
          </a:p>
        </p:txBody>
      </p:sp>
      <p:sp>
        <p:nvSpPr>
          <p:cNvPr id="41" name="Oval 40"/>
          <p:cNvSpPr/>
          <p:nvPr/>
        </p:nvSpPr>
        <p:spPr>
          <a:xfrm>
            <a:off x="6675120" y="5705855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5431" y="5586983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 usar con datos reales sensibles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6355080"/>
            <a:ext cx="10607040" cy="320040"/>
          </a:xfrm>
          <a:prstGeom prst="roundRect">
            <a:avLst>
              <a:gd name="adj" fmla="val 25000"/>
            </a:avLst>
          </a:prstGeom>
          <a:solidFill>
            <a:srgbClr val="EEF1F7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Respaldo técnico (no protagonista): backend case-scoped, auditoría implementada, ~3 087 tests automatizados verdes.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5840" y="71323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603504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40">
                <a:solidFill>
                  <a:srgbClr val="BFDBFE"/>
                </a:solidFill>
                <a:latin typeface="Calibri"/>
              </a:rPr>
              <a:t>RISK-FIRST 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Próximo paso: de prototipo académico a piloto controlado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DBEAFE"/>
                </a:solidFill>
                <a:latin typeface="Calibri"/>
              </a:rPr>
              <a:t>ROADMAP  ·  FASE 4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715768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Market data freshness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9981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990088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Carga manual del universo de instrumentos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483864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374136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PDF / export con branding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867912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758184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Access control por firma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251960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42232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Autenticación productiva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636008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Backup y restore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020056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910328"/>
            <a:ext cx="56692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Piloto con asesor real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2148840"/>
            <a:ext cx="4236415" cy="38404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377440"/>
            <a:ext cx="377921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80">
                <a:solidFill>
                  <a:srgbClr val="DBEAFE"/>
                </a:solidFill>
                <a:latin typeface="Calibri"/>
              </a:rPr>
              <a:t>MENSAJE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788920"/>
            <a:ext cx="3779215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Risk-First Advisory busca convertir la asesoría asistida por IA en un proceso 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controlada, justificable y auditable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, donde la tecnología potencia al asesor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1" i="0">
                <a:solidFill>
                  <a:srgbClr val="0EA5E9"/>
                </a:solidFill>
                <a:latin typeface="Calibri"/>
              </a:rPr>
              <a:t> sin reemplazarlo.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79" y="4754880"/>
            <a:ext cx="3596336" cy="0"/>
          </a:xfrm>
          <a:prstGeom prst="line">
            <a:avLst/>
          </a:prstGeom>
          <a:ln w="9525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79" y="4846320"/>
            <a:ext cx="3779215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 i="1">
                <a:solidFill>
                  <a:srgbClr val="DBEAFE"/>
                </a:solidFill>
                <a:latin typeface="Cambria"/>
              </a:rPr>
              <a:t>“La IA propone. El asesor decide.”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 i="1">
                <a:solidFill>
                  <a:srgbClr val="DBEAFE"/>
                </a:solidFill>
                <a:latin typeface="Cambria"/>
              </a:rPr>
              <a:t>“Risk-first, not return-chasing.”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 i="1">
                <a:solidFill>
                  <a:srgbClr val="DBEAFE"/>
                </a:solidFill>
                <a:latin typeface="Cambria"/>
              </a:rPr>
              <a:t>“Toda decisión debe poder justificarse.”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989320"/>
            <a:ext cx="5090007" cy="685800"/>
          </a:xfrm>
          <a:prstGeom prst="roundRect">
            <a:avLst>
              <a:gd name="adj" fmla="val 10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6099048"/>
            <a:ext cx="4632807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 spc="160">
                <a:solidFill>
                  <a:srgbClr val="DBEAFE"/>
                </a:solidFill>
                <a:latin typeface="Calibri"/>
              </a:rPr>
              <a:t>ESTADO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6355080"/>
            <a:ext cx="4632807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Prototipo funcional · demo local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5989320"/>
            <a:ext cx="5090007" cy="685800"/>
          </a:xfrm>
          <a:prstGeom prst="roundRect">
            <a:avLst>
              <a:gd name="adj" fmla="val 10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6099048"/>
            <a:ext cx="4632807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 spc="160">
                <a:solidFill>
                  <a:srgbClr val="DBEAFE"/>
                </a:solidFill>
                <a:latin typeface="Calibri"/>
              </a:rPr>
              <a:t>PRÓXIMO HITO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6355080"/>
            <a:ext cx="4632807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Fase 4 — piloto controlado con asesor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Risk-First Advisory — Academic deck</dc:title>
  <dc:subject/>
  <dc:creator>Risk-First Advisory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