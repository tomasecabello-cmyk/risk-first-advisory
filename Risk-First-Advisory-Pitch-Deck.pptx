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692640" y="0"/>
            <a:ext cx="0" cy="6858000"/>
          </a:xfrm>
          <a:prstGeom prst="line">
            <a:avLst/>
          </a:prstGeom>
          <a:ln w="635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424160" y="0"/>
            <a:ext cx="0" cy="6858000"/>
          </a:xfrm>
          <a:prstGeom prst="line">
            <a:avLst/>
          </a:prstGeom>
          <a:ln w="635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155680" y="0"/>
            <a:ext cx="0" cy="6858000"/>
          </a:xfrm>
          <a:prstGeom prst="line">
            <a:avLst/>
          </a:prstGeom>
          <a:ln w="635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77240" y="713232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603504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 spc="240">
                <a:solidFill>
                  <a:srgbClr val="BFDBFE"/>
                </a:solidFill>
                <a:latin typeface="Calibri"/>
              </a:rPr>
              <a:t>RISK-FIRST  ADVISORY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4389120" cy="310896"/>
          </a:xfrm>
          <a:prstGeom prst="roundRect">
            <a:avLst>
              <a:gd name="adj" fmla="val 45000"/>
            </a:avLst>
          </a:prstGeom>
          <a:solidFill>
            <a:srgbClr val="12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38912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DBEAFE"/>
                </a:solidFill>
                <a:latin typeface="Calibri"/>
              </a:rPr>
              <a:t>WEALTH-ADVISORY BACKEND  ·  DEMO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1060704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Risk-First Advisory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 i="0">
                <a:solidFill>
                  <a:srgbClr val="E2E8F0"/>
                </a:solidFill>
                <a:latin typeface="Calibri"/>
              </a:rPr>
              <a:t>IA supervisada por asesores para perfilar clientes,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 i="0">
                <a:solidFill>
                  <a:srgbClr val="E2E8F0"/>
                </a:solidFill>
                <a:latin typeface="Calibri"/>
              </a:rPr>
              <a:t>construir carteras justificables y auditar decisiones.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8348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DBEAFE"/>
                </a:solidFill>
                <a:latin typeface="Calibri"/>
              </a:rPr>
              <a:t>“AI proposes. Advisor decides. Every step audited.”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53212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 w="6350">
            <a:solidFill>
              <a:srgbClr val="1E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605272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603504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 spc="80">
                <a:solidFill>
                  <a:srgbClr val="CBD5E1"/>
                </a:solidFill>
                <a:latin typeface="Calibri"/>
              </a:rPr>
              <a:t>Pasos del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553212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 w="6350">
            <a:solidFill>
              <a:srgbClr val="1E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5605272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SHA-256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603504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 spc="80">
                <a:solidFill>
                  <a:srgbClr val="CBD5E1"/>
                </a:solidFill>
                <a:latin typeface="Calibri"/>
              </a:rPr>
              <a:t>Cadena de auditoría por caso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553212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122A4F"/>
          </a:solidFill>
          <a:ln w="6350">
            <a:solidFill>
              <a:srgbClr val="1E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5605272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3 087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603504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 spc="80">
                <a:solidFill>
                  <a:srgbClr val="CBD5E1"/>
                </a:solidFill>
                <a:latin typeface="Calibri"/>
              </a:rPr>
              <a:t>Tests verdes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3935" y="6355080"/>
            <a:ext cx="4434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94A3B8"/>
                </a:solidFill>
                <a:latin typeface="Calibri"/>
              </a:rPr>
              <a:t>Prototipo funcional · demo local · no production-ready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48640"/>
            <a:ext cx="192024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92024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EL PROBLEMA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0B1E3F"/>
                </a:solidFill>
                <a:latin typeface="Calibri"/>
              </a:rPr>
              <a:t>La asesoría asistida por IA tiene cinco grietas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Cinco puntos críticos que aparecen en casi todos los procesos actuales — y que cualquier mentor o regulador puede señalar.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73152" cy="12801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606039"/>
            <a:ext cx="411480" cy="411480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3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578608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KYC fragmentado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2990087"/>
            <a:ext cx="41148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El perfil del cliente se arma en varios sistemas (forms, planillas, mails). Difícil de versionar y auditar.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49039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49039"/>
            <a:ext cx="73152" cy="12801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023359"/>
            <a:ext cx="411480" cy="411480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5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3995927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Perfilamiento subjetivo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407407"/>
            <a:ext cx="41148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El criterio del asesor varía. Sin reglas explícitas, dos asesores armarían perfiles distintos para el mismo cliente.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66359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166359"/>
            <a:ext cx="73152" cy="12801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5440679"/>
            <a:ext cx="411480" cy="411480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4067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5413248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Recomendaciones poco trazables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5824727"/>
            <a:ext cx="41148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El cliente recibe una cartera pero no queda claro qué KYC la justifica ni qué supuestos usó el sistema.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331720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331720"/>
            <a:ext cx="73152" cy="12801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7959" y="2606039"/>
            <a:ext cx="411480" cy="411480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260603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578608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Overrides sin firma formal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990087"/>
            <a:ext cx="41148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Cuando se excede el presupuesto de riesgo aprobado, el override se discute en un email — no como decisión firmada.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749039"/>
            <a:ext cx="5212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749039"/>
            <a:ext cx="73152" cy="12801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37959" y="4023359"/>
            <a:ext cx="411480" cy="411480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402335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995927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Sin auditoría IA ↔ asesor ↔ cliente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407407"/>
            <a:ext cx="41148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No hay un registro inmutable de qué propuso la IA, qué decidió el asesor y qué vio el cliente al final.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 / 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· Pitch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48640"/>
            <a:ext cx="155448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5544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IDEA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0B1E3F"/>
                </a:solidFill>
                <a:latin typeface="Calibri"/>
              </a:rPr>
              <a:t>Una división explícita de roles, auditada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070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0B1E3F"/>
                </a:solidFill>
                <a:latin typeface="Calibri"/>
              </a:rPr>
              <a:t>“La IA propone.  </a:t>
            </a:r>
            <a:r>
              <a:rPr sz="4400" b="1" i="0">
                <a:solidFill>
                  <a:srgbClr val="0EA5E9"/>
                </a:solidFill>
                <a:latin typeface="Calibri"/>
              </a:rPr>
              <a:t>El asesor decide.”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“AI proposes. Advisor decides.”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8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11880"/>
            <a:ext cx="73152" cy="2788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886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0EA5E9"/>
                </a:solidFill>
                <a:latin typeface="Calibri"/>
              </a:rPr>
              <a:t>LA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2103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Interpreta el KYC y propone perfil + contradicciones.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80644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1">
                <a:solidFill>
                  <a:srgbClr val="0B1E3F"/>
                </a:solidFill>
                <a:latin typeface="Calibri"/>
              </a:rPr>
              <a:t>Nunca decide.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361188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47872" y="3611880"/>
            <a:ext cx="73152" cy="2788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3886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059669"/>
                </a:solidFill>
                <a:latin typeface="Calibri"/>
              </a:rPr>
              <a:t>EL ASESOR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389120"/>
            <a:ext cx="2103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Aprueba, modifica o rechaza el perfil. Firma decisiones.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2" y="580644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1">
                <a:solidFill>
                  <a:srgbClr val="0B1E3F"/>
                </a:solidFill>
                <a:latin typeface="Calibri"/>
              </a:rPr>
              <a:t>Siempre vinculante.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361188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8504" y="3611880"/>
            <a:ext cx="73152" cy="2788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3886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D97706"/>
                </a:solidFill>
                <a:latin typeface="Calibri"/>
              </a:rPr>
              <a:t>EL SISTEMA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389120"/>
            <a:ext cx="2103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Controla suitability, presupuesto de riesgo, ESG, data quality.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580644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1">
                <a:solidFill>
                  <a:srgbClr val="0B1E3F"/>
                </a:solidFill>
                <a:latin typeface="Calibri"/>
              </a:rPr>
              <a:t>Bloquea excepciones.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361188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9136" y="3611880"/>
            <a:ext cx="73152" cy="27889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9176" y="388620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200">
                <a:solidFill>
                  <a:srgbClr val="6D28D9"/>
                </a:solidFill>
                <a:latin typeface="Calibri"/>
              </a:rPr>
              <a:t>LA AUDITORÍA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4389120"/>
            <a:ext cx="2103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Hash chain SHA-256 por caso, AI logs con PII redactada.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5806440"/>
            <a:ext cx="2103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1">
                <a:solidFill>
                  <a:srgbClr val="0B1E3F"/>
                </a:solidFill>
                <a:latin typeface="Calibri"/>
              </a:rPr>
              <a:t>Trazabilidad total.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 /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· Pitch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48640"/>
            <a:ext cx="219456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FLUJO DEL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libri"/>
              </a:rPr>
              <a:t>Nueve pasos auditables, de la entrevista al reporte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Cada paso queda registrado en el caso del cliente. El asesor avanza paso por paso; el sistema impide saltos de control.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0120" y="3703320"/>
            <a:ext cx="10271455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697480"/>
            <a:ext cx="1100632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697480"/>
            <a:ext cx="1100632" cy="9144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8956" y="2971800"/>
            <a:ext cx="457200" cy="457200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8956" y="2971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917752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1E3F"/>
                </a:solidFill>
                <a:latin typeface="Calibri"/>
              </a:rPr>
              <a:t>Perfil del
inversor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9312" y="2697480"/>
            <a:ext cx="1100632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9312" y="2697480"/>
            <a:ext cx="1100632" cy="9144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91029" y="2971800"/>
            <a:ext cx="457200" cy="457200"/>
          </a:xfrm>
          <a:prstGeom prst="ellipse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91029" y="2971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0752" y="3566160"/>
            <a:ext cx="917752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1E3F"/>
                </a:solidFill>
                <a:latin typeface="Calibri"/>
              </a:rPr>
              <a:t>KYC
estructurado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61385" y="2697480"/>
            <a:ext cx="1100632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61385" y="2697480"/>
            <a:ext cx="1100632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83102" y="297180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3102" y="2971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2825" y="3566160"/>
            <a:ext cx="917752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1E3F"/>
                </a:solidFill>
                <a:latin typeface="Calibri"/>
              </a:rPr>
              <a:t>Análisis
de 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3458" y="2697480"/>
            <a:ext cx="1100632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3458" y="2697480"/>
            <a:ext cx="1100632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75174" y="297180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5174" y="2971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4898" y="3566160"/>
            <a:ext cx="917752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1E3F"/>
                </a:solidFill>
                <a:latin typeface="Calibri"/>
              </a:rPr>
              <a:t>Aprobación
del asesor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45531" y="2697480"/>
            <a:ext cx="1100632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45531" y="2697480"/>
            <a:ext cx="1100632" cy="91440"/>
          </a:xfrm>
          <a:prstGeom prst="rect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67247" y="2971800"/>
            <a:ext cx="457200" cy="457200"/>
          </a:xfrm>
          <a:prstGeom prst="ellipse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67247" y="2971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36971" y="3566160"/>
            <a:ext cx="917752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1E3F"/>
                </a:solidFill>
                <a:latin typeface="Calibri"/>
              </a:rPr>
              <a:t>Universo
elegible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37604" y="2697480"/>
            <a:ext cx="1100632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37604" y="2697480"/>
            <a:ext cx="1100632" cy="91440"/>
          </a:xfrm>
          <a:prstGeom prst="rect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59320" y="2971800"/>
            <a:ext cx="457200" cy="457200"/>
          </a:xfrm>
          <a:prstGeom prst="ellipse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320" y="2971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9044" y="3566160"/>
            <a:ext cx="917752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1E3F"/>
                </a:solidFill>
                <a:latin typeface="Calibri"/>
              </a:rPr>
              <a:t>Propuesta
de cartera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29676" y="2697480"/>
            <a:ext cx="1100632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29676" y="2697480"/>
            <a:ext cx="1100632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51393" y="297180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51393" y="2971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1116" y="3566160"/>
            <a:ext cx="917752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1E3F"/>
                </a:solidFill>
                <a:latin typeface="Calibri"/>
              </a:rPr>
              <a:t>Selección
final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21749" y="2697480"/>
            <a:ext cx="1100632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21749" y="2697480"/>
            <a:ext cx="1100632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43466" y="297180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43466" y="2971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3189" y="3566160"/>
            <a:ext cx="917752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1E3F"/>
                </a:solidFill>
                <a:latin typeface="Calibri"/>
              </a:rPr>
              <a:t>Reporte
revisable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13822" y="2697480"/>
            <a:ext cx="1100632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13822" y="2697480"/>
            <a:ext cx="1100632" cy="914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35538" y="297180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35538" y="2971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05262" y="3566160"/>
            <a:ext cx="917752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1E3F"/>
                </a:solidFill>
                <a:latin typeface="Calibri"/>
              </a:rPr>
              <a:t>Auditoría
verificada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" y="4983480"/>
            <a:ext cx="10637215" cy="36576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49834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 spc="120">
                <a:solidFill>
                  <a:srgbClr val="64748B"/>
                </a:solidFill>
                <a:latin typeface="Calibri"/>
              </a:rPr>
              <a:t>¿Quién actúa?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394960"/>
            <a:ext cx="1063721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Asesor + IA preparan el perfil  →  Asesor aprueba  →  Sistema controla suitability y riesgo  →  Asesor selecciona  →  Compliance verifica.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897880"/>
            <a:ext cx="10637215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1">
                <a:solidFill>
                  <a:srgbClr val="0B1E3F"/>
                </a:solidFill>
                <a:latin typeface="Calibri"/>
              </a:rPr>
              <a:t>“Si alguno de los nueve pasos no se firmó, el reporte no se genera.”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 / 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· Pitch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48640"/>
            <a:ext cx="274320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DIFERENCIAL · RISK-FIRST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libri"/>
              </a:rPr>
              <a:t>Empezamos por el riesgo aceptable, no por el retorno deseado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“Risk-first, not return-chasing.”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2120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73152" cy="2331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DC2626"/>
                </a:solidFill>
                <a:latin typeface="Calibri"/>
              </a:rPr>
              <a:t>ENFOQUE TRADICIONAL · RETURN-CHASING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Empieza por la expectativa de retorno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4754880" cy="1143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Cliente pide “10% anual en dólares”.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Asesor busca productos que pinten ese número.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El riesgo aparece como consecuencia, no como límite.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El override de límites no queda firmado por escrito.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31720"/>
            <a:ext cx="52120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331720"/>
            <a:ext cx="73152" cy="2331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560320"/>
            <a:ext cx="47548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059669"/>
                </a:solidFill>
                <a:latin typeface="Calibri"/>
              </a:rPr>
              <a:t>RISK-FIRST ADVISORY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3017520"/>
            <a:ext cx="47548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Empieza por la tolerancia y capacidad de riesgo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474720"/>
            <a:ext cx="4754880" cy="1143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KYC fija el presupuesto de riesgo aprobado.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El optimizador busca el mejor retorno dentro de ese límite.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Exceder el límite requiere override firmado por el asesor.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•  Todo queda atado a la cadena de auditoría del caso.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10607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El optimizador genera tres variantes — y bloquea las que se pasan del presupuesto sin override: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37760"/>
            <a:ext cx="338327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937760"/>
            <a:ext cx="3383279" cy="91440"/>
          </a:xfrm>
          <a:prstGeom prst="rect">
            <a:avLst/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12080"/>
            <a:ext cx="292607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0B1E3F"/>
                </a:solidFill>
                <a:latin typeface="Calibri"/>
              </a:rPr>
              <a:t>DEFENSIVE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15000"/>
            <a:ext cx="2926079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Por debajo del presupuesto aprobado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937760"/>
            <a:ext cx="338327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4937760"/>
            <a:ext cx="3383279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5212080"/>
            <a:ext cx="292607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0B1E3F"/>
                </a:solidFill>
                <a:latin typeface="Calibri"/>
              </a:rPr>
              <a:t>BALANCED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5715000"/>
            <a:ext cx="2926079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Dentro del presupuesto aprobado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4937760"/>
            <a:ext cx="338327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4937760"/>
            <a:ext cx="3383279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5212080"/>
            <a:ext cx="292607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0B1E3F"/>
                </a:solidFill>
                <a:latin typeface="Calibri"/>
              </a:rPr>
              <a:t>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715000"/>
            <a:ext cx="2926079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Puede exceder el presupuesto · requiere override firmado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5212080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63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5212080"/>
            <a:ext cx="12801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 spc="200">
                <a:solidFill>
                  <a:srgbClr val="D97706"/>
                </a:solidFill>
                <a:latin typeface="Calibri"/>
              </a:rPr>
              <a:t>OVERRIDE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· Pitch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48640"/>
            <a:ext cx="310896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31089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QUÉ VE EL ASESOR EN LA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0B1E3F"/>
                </a:solidFill>
                <a:latin typeface="Calibri"/>
              </a:rPr>
              <a:t>Una demo en español, paso a paso, que un asesor entiende sola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Pensada para mostrar el producto a profesores de finanzas o asesores no técnicos en ~3 minutos.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339333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73152" cy="187451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606039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0603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78608"/>
            <a:ext cx="229605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Demo en español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79"/>
            <a:ext cx="2890418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Hero, formulario, botones y mensajes localizados. El asesor no necesita traducir mentalmente nada.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2331720"/>
            <a:ext cx="339333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9178" y="2331720"/>
            <a:ext cx="73152" cy="187451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19218" y="2606039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9218" y="260603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3578" y="2578608"/>
            <a:ext cx="229605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Perfil inversor paso a paso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9218" y="3154679"/>
            <a:ext cx="2890418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8 cards didácticas: cada paso explica qué hace, por qué importa y qué mirar en el resultado.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1116" y="2331720"/>
            <a:ext cx="339333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1116" y="2331720"/>
            <a:ext cx="73152" cy="187451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41156" y="2606039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1156" y="260603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5516" y="2578608"/>
            <a:ext cx="229605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Propuestas con instrumentos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3154679"/>
            <a:ext cx="2890418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Cada variante muestra los tickers, pesos, tipo, moneda y motivo de inclusión — no un score abstracto.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434840"/>
            <a:ext cx="339333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434840"/>
            <a:ext cx="73152" cy="187451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7280" y="4709159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70915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681727"/>
            <a:ext cx="229605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Reporte Markdown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57800"/>
            <a:ext cx="2890418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Vista previa del documento que se entregaría al cliente, con composición y comparación de variantes.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99178" y="4434840"/>
            <a:ext cx="339333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99178" y="4434840"/>
            <a:ext cx="73152" cy="187451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19218" y="4709159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9218" y="470915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13578" y="4681727"/>
            <a:ext cx="229605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Auditoría intacta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9218" y="5257800"/>
            <a:ext cx="2890418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Pill verde “cadena intacta” sobre los eventos del caso. Compliance ve la integridad de un vistazo.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1116" y="4434840"/>
            <a:ext cx="339333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21116" y="4434840"/>
            <a:ext cx="73152" cy="187451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41156" y="4709159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1156" y="4709159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516" y="4681727"/>
            <a:ext cx="2296058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AI logs con PII redactada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1156" y="5257800"/>
            <a:ext cx="2890418" cy="91439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Cada llamada a OpenAI guardada con el texto libre y el client_id redactados por el backend.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 /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· Pitch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48640"/>
            <a:ext cx="256032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256032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PROPUESTAS DE CARTERA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libri"/>
              </a:rPr>
              <a:t>Cada variante muestra instrumentos, pesos y motivo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“Portfolio proposals with instruments, weights and rationale.”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70408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7040880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64922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Variante BALANCED  —  dentro del presupuesto de riesgo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Retorno esperado 6,8 %  ·  Volatilidad 9,4 %  ·  6 instrumentos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291840"/>
            <a:ext cx="6675120" cy="384048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20">
                <a:solidFill>
                  <a:srgbClr val="64748B"/>
                </a:solidFill>
                <a:latin typeface="Calibri"/>
              </a:rPr>
              <a:t>INSTRUMENTO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91840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20">
                <a:solidFill>
                  <a:srgbClr val="64748B"/>
                </a:solidFill>
                <a:latin typeface="Calibri"/>
              </a:rPr>
              <a:t>TIPO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3291840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20">
                <a:solidFill>
                  <a:srgbClr val="64748B"/>
                </a:solidFill>
                <a:latin typeface="Calibri"/>
              </a:rPr>
              <a:t>MONEDA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3291840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 i="0" spc="120">
                <a:solidFill>
                  <a:srgbClr val="64748B"/>
                </a:solidFill>
                <a:latin typeface="Calibri"/>
              </a:rPr>
              <a:t>PESO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91840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20">
                <a:solidFill>
                  <a:srgbClr val="64748B"/>
                </a:solidFill>
                <a:latin typeface="Calibri"/>
              </a:rPr>
              <a:t>MOTIVO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721608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51560" y="4105656"/>
            <a:ext cx="649224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1560" y="3721608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GD30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721608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Bono soberano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3721608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3721608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30 %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3849624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32120" y="3849624"/>
            <a:ext cx="68580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721608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Renta fija · hard dollar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151376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051560" y="4535424"/>
            <a:ext cx="649224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1560" y="4151376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AL30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151376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Bono soberano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59" y="4151376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4151376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22 %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4279392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32120" y="4279392"/>
            <a:ext cx="50292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151376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Renta fija · hard dollar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581144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051560" y="4965192"/>
            <a:ext cx="649224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1560" y="4581144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YPFD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4581144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Acción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59" y="4581144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59" y="4581144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15 %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4709159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32120" y="4709159"/>
            <a:ext cx="34290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581144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Equity · energía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5010912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51560" y="5394960"/>
            <a:ext cx="649224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51560" y="5010912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SHV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010912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ETF money market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59" y="5010912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59" y="5010912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13 %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5138928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532120" y="5138928"/>
            <a:ext cx="29718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5010912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Liquidez · USD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" y="5440680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051560" y="5824728"/>
            <a:ext cx="649224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51560" y="5440680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PAMP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68880" y="5440680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CEDEAR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59" y="5440680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59" y="5440680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10 %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32120" y="5568696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32120" y="5568696"/>
            <a:ext cx="22860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5440680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Equity · diversificación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0120" y="5870448"/>
            <a:ext cx="6675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560" y="5870448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onsolas"/>
              </a:rPr>
              <a:t>MEP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68880" y="5870448"/>
            <a:ext cx="13258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Money market USD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4759" y="5870448"/>
            <a:ext cx="1143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USD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59" y="5870448"/>
            <a:ext cx="5943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0B1E3F"/>
                </a:solidFill>
                <a:latin typeface="Calibri"/>
              </a:rPr>
              <a:t>10 %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32120" y="5998464"/>
            <a:ext cx="685800" cy="128016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32120" y="5998464"/>
            <a:ext cx="228600" cy="12801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17920" y="5870448"/>
            <a:ext cx="141732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Liquidez · USD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2440" y="2286000"/>
            <a:ext cx="33220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1D4ED8"/>
                </a:solidFill>
                <a:latin typeface="Calibri"/>
              </a:rPr>
              <a:t>QUÉ EXPONE CADA VARIANTE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2440" y="2697480"/>
            <a:ext cx="33220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B1E3F"/>
                </a:solidFill>
                <a:latin typeface="Calibri"/>
              </a:rPr>
              <a:t>Para cada candidato propuesto</a:t>
            </a:r>
          </a:p>
        </p:txBody>
      </p:sp>
      <p:sp>
        <p:nvSpPr>
          <p:cNvPr id="72" name="Oval 71"/>
          <p:cNvSpPr/>
          <p:nvPr/>
        </p:nvSpPr>
        <p:spPr>
          <a:xfrm>
            <a:off x="8092440" y="3337560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6760" y="3246120"/>
            <a:ext cx="30476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Instrumentos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3447288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ticker + nombre</a:t>
            </a:r>
          </a:p>
        </p:txBody>
      </p:sp>
      <p:sp>
        <p:nvSpPr>
          <p:cNvPr id="75" name="Oval 74"/>
          <p:cNvSpPr/>
          <p:nvPr/>
        </p:nvSpPr>
        <p:spPr>
          <a:xfrm>
            <a:off x="8092440" y="3840479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66760" y="3749039"/>
            <a:ext cx="30476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Pesos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6760" y="3950207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decimal y porcentaje</a:t>
            </a:r>
          </a:p>
        </p:txBody>
      </p:sp>
      <p:sp>
        <p:nvSpPr>
          <p:cNvPr id="78" name="Oval 77"/>
          <p:cNvSpPr/>
          <p:nvPr/>
        </p:nvSpPr>
        <p:spPr>
          <a:xfrm>
            <a:off x="8092440" y="4343400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66760" y="4251960"/>
            <a:ext cx="30476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Tipo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66760" y="4453128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bono / ETF / equity / CEDEAR</a:t>
            </a:r>
          </a:p>
        </p:txBody>
      </p:sp>
      <p:sp>
        <p:nvSpPr>
          <p:cNvPr id="81" name="Oval 80"/>
          <p:cNvSpPr/>
          <p:nvPr/>
        </p:nvSpPr>
        <p:spPr>
          <a:xfrm>
            <a:off x="8092440" y="4846320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66760" y="4754880"/>
            <a:ext cx="30476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Moneda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4956048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USD / ARS / EUR</a:t>
            </a:r>
          </a:p>
        </p:txBody>
      </p:sp>
      <p:sp>
        <p:nvSpPr>
          <p:cNvPr id="84" name="Oval 83"/>
          <p:cNvSpPr/>
          <p:nvPr/>
        </p:nvSpPr>
        <p:spPr>
          <a:xfrm>
            <a:off x="8092440" y="5349240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5257800"/>
            <a:ext cx="30476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Motivos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66760" y="5458968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asset class, hard dollar, etc.</a:t>
            </a:r>
          </a:p>
        </p:txBody>
      </p:sp>
      <p:sp>
        <p:nvSpPr>
          <p:cNvPr id="87" name="Oval 86"/>
          <p:cNvSpPr/>
          <p:nvPr/>
        </p:nvSpPr>
        <p:spPr>
          <a:xfrm>
            <a:off x="8092440" y="5852159"/>
            <a:ext cx="146304" cy="14630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66760" y="5760720"/>
            <a:ext cx="30476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Override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66760" y="5961888"/>
            <a:ext cx="3047695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si excede el presupuesto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 / 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· Pitch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48640"/>
            <a:ext cx="2651760" cy="310896"/>
          </a:xfrm>
          <a:prstGeom prst="roundRect">
            <a:avLst>
              <a:gd name="adj" fmla="val 4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265176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COMPLIANCE Y AUDITORÍA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libri"/>
              </a:rPr>
              <a:t>Trazabilidad por diseño, no agregada al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“Every decision auditable.”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16635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73152" cy="2011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39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6D28D9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06039"/>
            <a:ext cx="406907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Hash chain SHA-256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46634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Cada decisión (KYC, análisis IA, aprobación, override, selección, reporte) queda en una cadena SHA-256 por caso. Si alguien edita un payload, la cadena se rompe.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19" y="2331720"/>
            <a:ext cx="516635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19" y="2331720"/>
            <a:ext cx="73152" cy="2011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606039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EA5E9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19" y="2606039"/>
            <a:ext cx="406907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AI logs con PII redactada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00400"/>
            <a:ext cx="46634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Cada llamada a OpenAI se guarda con el texto libre y el client_id redactados por el backend antes de persistir. No queda PII del cliente en el log.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26280"/>
            <a:ext cx="516635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526280"/>
            <a:ext cx="73152" cy="2011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800600"/>
            <a:ext cx="406907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Decisiones humanas firmadas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94960"/>
            <a:ext cx="46634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El asesor aprueba o rechaza con un rationale obligatorio. El override del presupuesto de riesgo requiere firma escrita para poder seleccionar la variante.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19" y="4526280"/>
            <a:ext cx="516635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19" y="4526280"/>
            <a:ext cx="73152" cy="20116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480060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D4ED8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9" y="4800600"/>
            <a:ext cx="4069079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1E3F"/>
                </a:solidFill>
                <a:latin typeface="Calibri"/>
              </a:rPr>
              <a:t>Reportes revisables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5394960"/>
            <a:ext cx="46634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Calibri"/>
              </a:rPr>
              <a:t>El reporte final es Markdown determinístico. El asesor lo revisa antes de compartir con el cliente. No hay botón de “enviar al cliente”.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46520"/>
            <a:ext cx="10607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1">
                <a:solidFill>
                  <a:srgbClr val="0B1E3F"/>
                </a:solidFill>
                <a:latin typeface="Calibri"/>
              </a:rPr>
              <a:t>El sistema no es una “recomendación automática” — es un copilot que prepara el material para que el asesor decida.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 /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· Pitch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48640"/>
            <a:ext cx="1554480" cy="310896"/>
          </a:xfrm>
          <a:prstGeom prst="roundRect">
            <a:avLst>
              <a:gd name="adj" fmla="val 4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5544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ESTADO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libri"/>
              </a:rPr>
              <a:t>Lo que ya funciona, hoy, en una máquina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Un prototipo funcional end-to-end, no un mockup. Operable en ~3 minutos tras correr el bootstrap.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704088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06039"/>
            <a:ext cx="6583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 spc="160">
                <a:solidFill>
                  <a:srgbClr val="059669"/>
                </a:solidFill>
                <a:latin typeface="Calibri"/>
              </a:rPr>
              <a:t>ENTREGADO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3136391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36391"/>
            <a:ext cx="2377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63239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Backend case-scoped completo (Fase 2)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3547872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547872"/>
            <a:ext cx="2377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47472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Dashboard técnico de firms / asesores / clientes / casos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3959352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959352"/>
            <a:ext cx="2377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8620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Workbench de 15 paneles end-to-end</a:t>
            </a:r>
          </a:p>
        </p:txBody>
      </p:sp>
      <p:sp>
        <p:nvSpPr>
          <p:cNvPr id="18" name="Oval 17"/>
          <p:cNvSpPr/>
          <p:nvPr/>
        </p:nvSpPr>
        <p:spPr>
          <a:xfrm>
            <a:off x="1143000" y="4370831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370831"/>
            <a:ext cx="2377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97679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Demo investor-facing en español, paso a paso</a:t>
            </a:r>
          </a:p>
        </p:txBody>
      </p:sp>
      <p:sp>
        <p:nvSpPr>
          <p:cNvPr id="21" name="Oval 20"/>
          <p:cNvSpPr/>
          <p:nvPr/>
        </p:nvSpPr>
        <p:spPr>
          <a:xfrm>
            <a:off x="1143000" y="4782312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782312"/>
            <a:ext cx="2377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9159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Bootstrap local en un comando</a:t>
            </a:r>
          </a:p>
        </p:txBody>
      </p:sp>
      <p:sp>
        <p:nvSpPr>
          <p:cNvPr id="24" name="Oval 23"/>
          <p:cNvSpPr/>
          <p:nvPr/>
        </p:nvSpPr>
        <p:spPr>
          <a:xfrm>
            <a:off x="1143000" y="5193792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193792"/>
            <a:ext cx="2377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12064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Seed de datos demo (firm + asesor + cliente + caso)</a:t>
            </a:r>
          </a:p>
        </p:txBody>
      </p:sp>
      <p:sp>
        <p:nvSpPr>
          <p:cNvPr id="27" name="Oval 26"/>
          <p:cNvSpPr/>
          <p:nvPr/>
        </p:nvSpPr>
        <p:spPr>
          <a:xfrm>
            <a:off x="1143000" y="5605272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605272"/>
            <a:ext cx="2377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53212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Composición de carteras con instrumentos y pesos</a:t>
            </a:r>
          </a:p>
        </p:txBody>
      </p:sp>
      <p:sp>
        <p:nvSpPr>
          <p:cNvPr id="30" name="Oval 29"/>
          <p:cNvSpPr/>
          <p:nvPr/>
        </p:nvSpPr>
        <p:spPr>
          <a:xfrm>
            <a:off x="1143000" y="6016752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6016752"/>
            <a:ext cx="2377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94360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0F172A"/>
                </a:solidFill>
                <a:latin typeface="Calibri"/>
              </a:rPr>
              <a:t>Hash chain por caso + AI logs con PII redactada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2331720"/>
            <a:ext cx="3322015" cy="1874519"/>
          </a:xfrm>
          <a:prstGeom prst="roundRect">
            <a:avLst>
              <a:gd name="adj" fmla="val 8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606039"/>
            <a:ext cx="28648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 spc="160">
                <a:solidFill>
                  <a:srgbClr val="DBEAFE"/>
                </a:solidFill>
                <a:latin typeface="Calibri"/>
              </a:rPr>
              <a:t>SUITE DE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926079"/>
            <a:ext cx="2864815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7000" b="1" i="0">
                <a:solidFill>
                  <a:srgbClr val="FFFFFF"/>
                </a:solidFill>
                <a:latin typeface="Calibri"/>
              </a:rPr>
              <a:t>3 087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840479"/>
            <a:ext cx="286481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tests verdes  ·  unit + integration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4343400"/>
            <a:ext cx="3322015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389120"/>
            <a:ext cx="295625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1E3F"/>
                </a:solidFill>
                <a:latin typeface="Calibri"/>
              </a:rPr>
              <a:t>100 %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90872"/>
            <a:ext cx="295625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Casos backend cubiertos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5029200"/>
            <a:ext cx="3322015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5074920"/>
            <a:ext cx="295625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1E3F"/>
                </a:solidFill>
                <a:latin typeface="Calibr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376672"/>
            <a:ext cx="295625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Dependencias frontend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5715000"/>
            <a:ext cx="3322015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5760720"/>
            <a:ext cx="295625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1E3F"/>
                </a:solidFill>
                <a:latin typeface="Calibri"/>
              </a:rPr>
              <a:t>~3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62472"/>
            <a:ext cx="2956255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 cero a demo operable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 / 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· Pitch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48640"/>
            <a:ext cx="2468880" cy="310896"/>
          </a:xfrm>
          <a:prstGeom prst="roundRect">
            <a:avLst>
              <a:gd name="adj" fmla="val 4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24688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LIMITACIONES ACTUALES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B1E3F"/>
                </a:solidFill>
                <a:latin typeface="Calibri"/>
              </a:rPr>
              <a:t>Honestidad sobre el alcance: esto NO es production-ready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El prototipo funcional muestra el flujo end-to-end. Para piloto productivo, hay que cerrar todo lo siguiente.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16635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68879"/>
            <a:ext cx="475487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No production-ready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475487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Demo local · pilot interno con datos demo. No usar con PII real de clientes.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19" y="2331720"/>
            <a:ext cx="516635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19" y="2331720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2468879"/>
            <a:ext cx="475487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SQLite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39" y="2788920"/>
            <a:ext cx="475487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Sin PostgreSQL, sin réplica, sin clustering. Suficiente para demo, no para piloto.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01568"/>
            <a:ext cx="516635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01568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38727"/>
            <a:ext cx="475487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Auth con dev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58768"/>
            <a:ext cx="475487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Bearer tokens opacos en YAML. Sin JWT, sin IdP, sin rotación, sin revocation.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3401568"/>
            <a:ext cx="516635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19" y="3401568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39" y="3538727"/>
            <a:ext cx="475487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Universo de instrumentos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3858768"/>
            <a:ext cx="475487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20 instrumentos del fixture CSV. No es market data productivo ni tiene SLA de frescura.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471416"/>
            <a:ext cx="516635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471416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608576"/>
            <a:ext cx="475487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Sin market data provider 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928616"/>
            <a:ext cx="475487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Los snapshots vienen del fixture. Falta integración con Bloomberg / Refinitiv / proveedor real.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19" y="4471416"/>
            <a:ext cx="516635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19" y="4471416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39" y="4608576"/>
            <a:ext cx="475487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Reporte solo Markdown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39" y="4928616"/>
            <a:ext cx="475487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Sin PDF, sin branding de la firm. La impresión / entrega al cliente sigue siendo manual.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541264"/>
            <a:ext cx="516635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541264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678424"/>
            <a:ext cx="475487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Sin firm-level access control completo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998464"/>
            <a:ext cx="475487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Cualquier token con rol válido puede ver cualquier caso. No hay aislación entre firms.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19" y="5541264"/>
            <a:ext cx="516635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19" y="5541264"/>
            <a:ext cx="54864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39" y="5678424"/>
            <a:ext cx="4754879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1E3F"/>
                </a:solidFill>
                <a:latin typeface="Calibri"/>
              </a:rPr>
              <a:t>Sin datos reales sensibles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39" y="5998464"/>
            <a:ext cx="475487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Recordatorio: no cargar PII real ni información confidencial en esta demo.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 / 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· Pitch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48640"/>
            <a:ext cx="1828800" cy="310896"/>
          </a:xfrm>
          <a:prstGeom prst="roundRect">
            <a:avLst>
              <a:gd name="adj" fmla="val 4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182880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 spc="160">
                <a:solidFill>
                  <a:srgbClr val="FFFFFF"/>
                </a:solidFill>
                <a:latin typeface="Calibri"/>
              </a:rPr>
              <a:t>ROADMAP · FASE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1E3F"/>
                </a:solidFill>
                <a:latin typeface="Calibri"/>
              </a:rPr>
              <a:t>De prototipo funcional a pilot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Cierre del prototipo + hardening necesario para correr la demo con un asesor piloto real.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06424" y="2514600"/>
            <a:ext cx="0" cy="3579222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40" y="2468879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79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41448"/>
            <a:ext cx="976853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Market data provider productivo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43200"/>
            <a:ext cx="976853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Reemplazar el CSV fixture por un live provider con SLA de frescura y validación.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050177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50177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22745"/>
            <a:ext cx="976853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Manual universe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24497"/>
            <a:ext cx="976853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Admin endpoint para reemplazar el universo sin redeploy.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631474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31474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604042"/>
            <a:ext cx="976853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PDF / branding del reporte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05794"/>
            <a:ext cx="976853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Render del Markdown a PDF con logo + colores + header de la firm.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4212771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12771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85339"/>
            <a:ext cx="976853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Firm-level access control completo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487091"/>
            <a:ext cx="976853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firm_id en el token + filtrado por firm en todos los endpoints /cases/*.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" y="4794068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94068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766636"/>
            <a:ext cx="976853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Auth productiva (JWT / OIDC)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068388"/>
            <a:ext cx="976853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Integración con identity provider. Rotación, revocation, emisión de tokens.</a:t>
            </a:r>
          </a:p>
        </p:txBody>
      </p:sp>
      <p:sp>
        <p:nvSpPr>
          <p:cNvPr id="28" name="Oval 27"/>
          <p:cNvSpPr/>
          <p:nvPr/>
        </p:nvSpPr>
        <p:spPr>
          <a:xfrm>
            <a:off x="1005840" y="5375365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375365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347933"/>
            <a:ext cx="976853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Backup / restore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649685"/>
            <a:ext cx="976853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Snapshot regular de la DB SQLite (o migración a PostgreSQL si la escala lo pide).</a:t>
            </a:r>
          </a:p>
        </p:txBody>
      </p:sp>
      <p:sp>
        <p:nvSpPr>
          <p:cNvPr id="32" name="Oval 31"/>
          <p:cNvSpPr/>
          <p:nvPr/>
        </p:nvSpPr>
        <p:spPr>
          <a:xfrm>
            <a:off x="1005840" y="5956662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956662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929230"/>
            <a:ext cx="9768535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1E3F"/>
                </a:solidFill>
                <a:latin typeface="Calibri"/>
              </a:rPr>
              <a:t>Pilot readiness checklist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6230982"/>
            <a:ext cx="9768535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Cifrado at-rest, retention policy, sign-off legal, runbook de incidentes.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Risk-First Advisory · Pitch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635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6350">
            <a:solidFill>
              <a:srgbClr val="1E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88720" y="713232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0472" y="603504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 spc="240">
                <a:solidFill>
                  <a:srgbClr val="BFDBFE"/>
                </a:solidFill>
                <a:latin typeface="Calibri"/>
              </a:rPr>
              <a:t>RISK-FIRST 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100584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200" b="0" i="0">
                <a:solidFill>
                  <a:srgbClr val="E2E8F0"/>
                </a:solidFill>
                <a:latin typeface="Calibri"/>
              </a:rPr>
              <a:t>La asesoría asistida por IA debería ser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controlada, justificable y auditable.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200" b="0" i="0">
                <a:solidFill>
                  <a:srgbClr val="E2E8F0"/>
                </a:solidFill>
                <a:latin typeface="Calibri"/>
              </a:rPr>
              <a:t>La tecnología potencia al asesor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200" b="1" i="0">
                <a:solidFill>
                  <a:srgbClr val="0EA5E9"/>
                </a:solidFill>
                <a:latin typeface="Calibri"/>
              </a:rPr>
              <a:t>sin reemplazarlo.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0749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 i="1">
                <a:solidFill>
                  <a:srgbClr val="DBEAFE"/>
                </a:solidFill>
                <a:latin typeface="Calibri"/>
              </a:rPr>
              <a:t>“AI proposes. Advisor decides.  </a:t>
            </a:r>
            <a:r>
              <a:rPr sz="1600" b="0" i="1">
                <a:solidFill>
                  <a:srgbClr val="DBEAFE"/>
                </a:solidFill>
                <a:latin typeface="Calibri"/>
              </a:rPr>
              <a:t>Risk-first, not return-chasing.  </a:t>
            </a:r>
            <a:r>
              <a:rPr sz="1600" b="0" i="1">
                <a:solidFill>
                  <a:srgbClr val="DBEAFE"/>
                </a:solidFill>
                <a:latin typeface="Calibri"/>
              </a:rPr>
              <a:t>Every decision auditable.”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5943600"/>
            <a:ext cx="3271418" cy="640080"/>
          </a:xfrm>
          <a:prstGeom prst="roundRect">
            <a:avLst>
              <a:gd name="adj" fmla="val 10000"/>
            </a:avLst>
          </a:prstGeom>
          <a:solidFill>
            <a:srgbClr val="122A4F"/>
          </a:solidFill>
          <a:ln w="6350">
            <a:solidFill>
              <a:srgbClr val="1E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6035040"/>
            <a:ext cx="281421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 spc="160">
                <a:solidFill>
                  <a:srgbClr val="DBEAFE"/>
                </a:solidFill>
                <a:latin typeface="Calibri"/>
              </a:rPr>
              <a:t>ESTADO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272784"/>
            <a:ext cx="281421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Prototipo funcional · demo local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3018" y="5943600"/>
            <a:ext cx="3271418" cy="640080"/>
          </a:xfrm>
          <a:prstGeom prst="roundRect">
            <a:avLst>
              <a:gd name="adj" fmla="val 10000"/>
            </a:avLst>
          </a:prstGeom>
          <a:solidFill>
            <a:srgbClr val="122A4F"/>
          </a:solidFill>
          <a:ln w="6350">
            <a:solidFill>
              <a:srgbClr val="1E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1618" y="6035040"/>
            <a:ext cx="281421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 spc="160">
                <a:solidFill>
                  <a:srgbClr val="DBEAFE"/>
                </a:solidFill>
                <a:latin typeface="Calibri"/>
              </a:rPr>
              <a:t>PRÓXIMO HITO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1618" y="6272784"/>
            <a:ext cx="281421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Fase 4 — pilot readiness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5943600"/>
            <a:ext cx="3271418" cy="640080"/>
          </a:xfrm>
          <a:prstGeom prst="roundRect">
            <a:avLst>
              <a:gd name="adj" fmla="val 10000"/>
            </a:avLst>
          </a:prstGeom>
          <a:solidFill>
            <a:srgbClr val="122A4F"/>
          </a:solidFill>
          <a:ln w="6350">
            <a:solidFill>
              <a:srgbClr val="1E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6035040"/>
            <a:ext cx="281421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 spc="160">
                <a:solidFill>
                  <a:srgbClr val="DBEAFE"/>
                </a:solidFill>
                <a:latin typeface="Calibri"/>
              </a:rPr>
              <a:t>CONTACTO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6272784"/>
            <a:ext cx="281421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Pedí la demo · ~3 min en vivo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Risk-First Advisory — Pitch deck</dc:title>
  <dc:subject/>
  <dc:creator>Risk-First Advisory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